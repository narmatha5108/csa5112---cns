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03C0A10-602C-5840-5371-0FCD8E1158BD}">
          <p14:sldIdLst>
            <p14:sldId id="256"/>
            <p14:sldId id="257"/>
          </p14:sldIdLst>
        </p14:section>
        <p14:section name="Core Concepts" id="{DF1EE7CB-7ADC-08FE-D454-128FB45FA27C}">
          <p14:sldIdLst>
            <p14:sldId id="258"/>
            <p14:sldId id="259"/>
            <p14:sldId id="260"/>
            <p14:sldId id="261"/>
          </p14:sldIdLst>
        </p14:section>
        <p14:section name="Analysis" id="{F0725BD1-64FC-FA2E-93EB-9A9075181AF6}">
          <p14:sldIdLst>
            <p14:sldId id="262"/>
            <p14:sldId id="263"/>
            <p14:sldId id="264"/>
          </p14:sldIdLst>
        </p14:section>
        <p14:section name="Wrap-up" id="{A496DD62-B6B8-F24E-72C5-37661231C627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177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77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two ways to protect information. One makes a message unreadable, the other makes it invisible. Origins: Greek 'kryptos' = hidden, 'steganos' = covered, 'graphein' =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sentence of the talk: cryptography protects the content; steganography protects the very fact that communication is happening.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right. Without the key, ciphertext is useless. Three families: symmetric (fast, shared key), asymmetric (solves key distribution), hashing (integrity, no decryption).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stego file is the only thing an observer sees. The three goals pull against each other: more capacity usually means less invisibility.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Pixel = 3 bytes (R, G, B). Replacing the last bit of each byte changes the colour by at most 1/255. Capacity check: 1,000,000 pixels x 3 channels x 1 bit = 3,000,000 bits = 375,000 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medium with redundancy or unused space can carry hidden data. Images are the most common in demos because pixel changes are easy to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'Main weakness': encryption advertises that something secret exists, while steganography can be destroyed by simple changes such as JPEG compression or resizing.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is 'better'. Cryptography is strong but conspicuous; steganography is discreet but fragile. That tension leads 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Teal = cryptography, amber = steganography. Stego has a defensive side too: forensic teams use steganalysis to find data smuggled out in ordinary-looking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security: the outer layer (steganography) hides that anything is there; the inner layer (cryptography) protects the content if the outer layer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live or show screenshots. Show both images side by side, then extract the message. Optional: compare file sizes or run a hex diff to prove the bits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repeating the one-sentence difference,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97280"/>
            <a:ext cx="4937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108960"/>
            <a:ext cx="4937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Steganography vs Cryptography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Steganography vs Cryptography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972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Steganography vs Cryptography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108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Hidden Security in the Digital World</a:t>
            </a:r>
            <a:endParaRPr lang="en-US" sz="2000" dirty="0"/>
          </a:p>
        </p:txBody>
      </p:sp>
      <p:sp>
        <p:nvSpPr>
          <p:cNvPr id="4" name="Presenter details"/>
          <p:cNvSpPr txBox="1"/>
          <p:nvPr/>
        </p:nvSpPr>
        <p:spPr>
          <a:xfrm>
            <a:off x="640080" y="3749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CO1 Assessment Tool 3  |  Technical Presentation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Presented by Narmatha J (192521341)</a:t>
            </a:r>
            <a:endParaRPr lang="en-US" sz="1400" dirty="0"/>
          </a:p>
        </p:txBody>
      </p:sp>
      <p:sp>
        <p:nvSpPr>
          <p:cNvPr id="5" name="Cryptography circle"/>
          <p:cNvSpPr/>
          <p:nvPr/>
        </p:nvSpPr>
        <p:spPr>
          <a:xfrm>
            <a:off x="5669280" y="109728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ryptography icon" descr="Cryptograph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1005840" cy="1005840"/>
          </a:xfrm>
          <a:prstGeom prst="rect">
            <a:avLst/>
          </a:prstGeom>
        </p:spPr>
      </p:pic>
      <p:sp>
        <p:nvSpPr>
          <p:cNvPr id="7" name="Steganography circle"/>
          <p:cNvSpPr/>
          <p:nvPr/>
        </p:nvSpPr>
        <p:spPr>
          <a:xfrm>
            <a:off x="6675120" y="2377440"/>
            <a:ext cx="2011680" cy="2011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Steganography icon" descr="Steganograph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8803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The Core Idea</a:t>
            </a:r>
            <a:endParaRPr lang="en-US" sz="3400" dirty="0"/>
          </a:p>
        </p:txBody>
      </p:sp>
      <p:sp>
        <p:nvSpPr>
          <p:cNvPr id="3" name="Cryptography card"/>
          <p:cNvSpPr/>
          <p:nvPr/>
        </p:nvSpPr>
        <p:spPr>
          <a:xfrm>
            <a:off x="457200" y="1234440"/>
            <a:ext cx="37033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Cryptography circle"/>
          <p:cNvSpPr/>
          <p:nvPr/>
        </p:nvSpPr>
        <p:spPr>
          <a:xfrm>
            <a:off x="777240" y="15087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ryptography icon" descr="Cryptograph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91640"/>
            <a:ext cx="365760" cy="365760"/>
          </a:xfrm>
          <a:prstGeom prst="rect">
            <a:avLst/>
          </a:prstGeom>
        </p:spPr>
      </p:pic>
      <p:sp>
        <p:nvSpPr>
          <p:cNvPr id="6" name="Cryptography name"/>
          <p:cNvSpPr txBox="1"/>
          <p:nvPr/>
        </p:nvSpPr>
        <p:spPr>
          <a:xfrm>
            <a:off x="77724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</a:t>
            </a:r>
            <a:endParaRPr lang="en-US" sz="2400" dirty="0"/>
          </a:p>
        </p:txBody>
      </p:sp>
      <p:sp>
        <p:nvSpPr>
          <p:cNvPr id="7" name="Cryptography pill"/>
          <p:cNvSpPr/>
          <p:nvPr/>
        </p:nvSpPr>
        <p:spPr>
          <a:xfrm>
            <a:off x="777240" y="2880360"/>
            <a:ext cx="26517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</p:sp>
      <p:sp>
        <p:nvSpPr>
          <p:cNvPr id="8" name="Cryptography pill text"/>
          <p:cNvSpPr txBox="1"/>
          <p:nvPr/>
        </p:nvSpPr>
        <p:spPr>
          <a:xfrm>
            <a:off x="777240" y="2880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Hides the MEANING</a:t>
            </a:r>
            <a:endParaRPr lang="en-US" sz="1600" dirty="0"/>
          </a:p>
        </p:txBody>
      </p:sp>
      <p:sp>
        <p:nvSpPr>
          <p:cNvPr id="9" name="Cryptography description"/>
          <p:cNvSpPr txBox="1"/>
          <p:nvPr/>
        </p:nvSpPr>
        <p:spPr>
          <a:xfrm>
            <a:off x="777240" y="3429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Anyone can see a message exists, but nobody can read it without the key.</a:t>
            </a:r>
            <a:endParaRPr lang="en-US" sz="1400" dirty="0"/>
          </a:p>
        </p:txBody>
      </p:sp>
      <p:sp>
        <p:nvSpPr>
          <p:cNvPr id="10" name="Steganography card"/>
          <p:cNvSpPr/>
          <p:nvPr/>
        </p:nvSpPr>
        <p:spPr>
          <a:xfrm>
            <a:off x="4983480" y="1234440"/>
            <a:ext cx="37033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1" name="Steganography circle"/>
          <p:cNvSpPr/>
          <p:nvPr/>
        </p:nvSpPr>
        <p:spPr>
          <a:xfrm>
            <a:off x="5303520" y="1508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Steganography icon" descr="Steganograph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691640"/>
            <a:ext cx="365760" cy="365760"/>
          </a:xfrm>
          <a:prstGeom prst="rect">
            <a:avLst/>
          </a:prstGeom>
        </p:spPr>
      </p:pic>
      <p:sp>
        <p:nvSpPr>
          <p:cNvPr id="13" name="Steganography name"/>
          <p:cNvSpPr txBox="1"/>
          <p:nvPr/>
        </p:nvSpPr>
        <p:spPr>
          <a:xfrm>
            <a:off x="530352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Steganography</a:t>
            </a:r>
            <a:endParaRPr lang="en-US" sz="2400" dirty="0"/>
          </a:p>
        </p:txBody>
      </p:sp>
      <p:sp>
        <p:nvSpPr>
          <p:cNvPr id="14" name="Steganography pill"/>
          <p:cNvSpPr/>
          <p:nvPr/>
        </p:nvSpPr>
        <p:spPr>
          <a:xfrm>
            <a:off x="5303520" y="2880360"/>
            <a:ext cx="265176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/>
        </p:spPr>
      </p:sp>
      <p:sp>
        <p:nvSpPr>
          <p:cNvPr id="15" name="Steganography pill text"/>
          <p:cNvSpPr txBox="1"/>
          <p:nvPr/>
        </p:nvSpPr>
        <p:spPr>
          <a:xfrm>
            <a:off x="5303520" y="2880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Hides the EXISTENCE</a:t>
            </a:r>
            <a:endParaRPr lang="en-US" sz="1600" dirty="0"/>
          </a:p>
        </p:txBody>
      </p:sp>
      <p:sp>
        <p:nvSpPr>
          <p:cNvPr id="16" name="Steganography description"/>
          <p:cNvSpPr txBox="1"/>
          <p:nvPr/>
        </p:nvSpPr>
        <p:spPr>
          <a:xfrm>
            <a:off x="5303520" y="3429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message is buried inside a normal file, so nobody suspects it is there.</a:t>
            </a:r>
            <a:endParaRPr lang="en-US" sz="1400" dirty="0"/>
          </a:p>
        </p:txBody>
      </p:sp>
      <p:sp>
        <p:nvSpPr>
          <p:cNvPr id="17" name="VS circle"/>
          <p:cNvSpPr/>
          <p:nvPr/>
        </p:nvSpPr>
        <p:spPr>
          <a:xfrm>
            <a:off x="4251960" y="26060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VS label"/>
          <p:cNvSpPr txBox="1"/>
          <p:nvPr/>
        </p:nvSpPr>
        <p:spPr>
          <a:xfrm>
            <a:off x="425196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How Cryptography Works</a:t>
            </a:r>
            <a:endParaRPr lang="en-US" sz="3400" dirty="0"/>
          </a:p>
        </p:txBody>
      </p:sp>
      <p:sp>
        <p:nvSpPr>
          <p:cNvPr id="3" name="Node 1"/>
          <p:cNvSpPr/>
          <p:nvPr/>
        </p:nvSpPr>
        <p:spPr>
          <a:xfrm>
            <a:off x="457200" y="1280160"/>
            <a:ext cx="12801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4" name="Node 1 text"/>
          <p:cNvSpPr txBox="1"/>
          <p:nvPr/>
        </p:nvSpPr>
        <p:spPr>
          <a:xfrm>
            <a:off x="457200" y="1280160"/>
            <a:ext cx="12801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Plaintext</a:t>
            </a:r>
            <a:endParaRPr lang="en-US" sz="1400" dirty="0"/>
          </a:p>
        </p:txBody>
      </p:sp>
      <p:sp>
        <p:nvSpPr>
          <p:cNvPr id="5" name="Arrow 1"/>
          <p:cNvSpPr/>
          <p:nvPr/>
        </p:nvSpPr>
        <p:spPr>
          <a:xfrm>
            <a:off x="1760220" y="1577340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6" name="Node 2"/>
          <p:cNvSpPr/>
          <p:nvPr/>
        </p:nvSpPr>
        <p:spPr>
          <a:xfrm>
            <a:off x="2057400" y="128016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7" name="Node 2 text"/>
          <p:cNvSpPr txBox="1"/>
          <p:nvPr/>
        </p:nvSpPr>
        <p:spPr>
          <a:xfrm>
            <a:off x="2057400" y="1280160"/>
            <a:ext cx="15544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Encrypt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+ key</a:t>
            </a:r>
            <a:endParaRPr lang="en-US" sz="1400" dirty="0"/>
          </a:p>
        </p:txBody>
      </p:sp>
      <p:sp>
        <p:nvSpPr>
          <p:cNvPr id="8" name="Arrow 2"/>
          <p:cNvSpPr/>
          <p:nvPr/>
        </p:nvSpPr>
        <p:spPr>
          <a:xfrm>
            <a:off x="3634740" y="1577340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9" name="Node 3"/>
          <p:cNvSpPr/>
          <p:nvPr/>
        </p:nvSpPr>
        <p:spPr>
          <a:xfrm>
            <a:off x="3931920" y="1280160"/>
            <a:ext cx="128016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10" name="Node 3 text"/>
          <p:cNvSpPr txBox="1"/>
          <p:nvPr/>
        </p:nvSpPr>
        <p:spPr>
          <a:xfrm>
            <a:off x="3931920" y="1280160"/>
            <a:ext cx="12801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Ciphertext</a:t>
            </a:r>
            <a:endParaRPr lang="en-US" sz="1400" dirty="0"/>
          </a:p>
        </p:txBody>
      </p:sp>
      <p:sp>
        <p:nvSpPr>
          <p:cNvPr id="11" name="Arrow 3"/>
          <p:cNvSpPr/>
          <p:nvPr/>
        </p:nvSpPr>
        <p:spPr>
          <a:xfrm>
            <a:off x="5234940" y="1577340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2" name="Node 4"/>
          <p:cNvSpPr/>
          <p:nvPr/>
        </p:nvSpPr>
        <p:spPr>
          <a:xfrm>
            <a:off x="5532120" y="128016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13" name="Node 4 text"/>
          <p:cNvSpPr txBox="1"/>
          <p:nvPr/>
        </p:nvSpPr>
        <p:spPr>
          <a:xfrm>
            <a:off x="5532120" y="1280160"/>
            <a:ext cx="15544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Decrypt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+ key</a:t>
            </a:r>
            <a:endParaRPr lang="en-US" sz="1400" dirty="0"/>
          </a:p>
        </p:txBody>
      </p:sp>
      <p:sp>
        <p:nvSpPr>
          <p:cNvPr id="14" name="Arrow 4"/>
          <p:cNvSpPr/>
          <p:nvPr/>
        </p:nvSpPr>
        <p:spPr>
          <a:xfrm>
            <a:off x="7109460" y="1577340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5" name="Node 5"/>
          <p:cNvSpPr/>
          <p:nvPr/>
        </p:nvSpPr>
        <p:spPr>
          <a:xfrm>
            <a:off x="7406640" y="1280160"/>
            <a:ext cx="12801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6" name="Node 5 text"/>
          <p:cNvSpPr txBox="1"/>
          <p:nvPr/>
        </p:nvSpPr>
        <p:spPr>
          <a:xfrm>
            <a:off x="7406640" y="1280160"/>
            <a:ext cx="12801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Plaintext</a:t>
            </a:r>
            <a:endParaRPr lang="en-US" sz="1400" dirty="0"/>
          </a:p>
        </p:txBody>
      </p:sp>
      <p:sp>
        <p:nvSpPr>
          <p:cNvPr id="17" name="Symmetric card"/>
          <p:cNvSpPr/>
          <p:nvPr/>
        </p:nvSpPr>
        <p:spPr>
          <a:xfrm>
            <a:off x="457200" y="2514600"/>
            <a:ext cx="25603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8" name="Symmetric circle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Symmetric icon" descr="Symmetr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2777490"/>
            <a:ext cx="251460" cy="251460"/>
          </a:xfrm>
          <a:prstGeom prst="rect">
            <a:avLst/>
          </a:prstGeom>
        </p:spPr>
      </p:pic>
      <p:sp>
        <p:nvSpPr>
          <p:cNvPr id="20" name="Symmetric name"/>
          <p:cNvSpPr txBox="1"/>
          <p:nvPr/>
        </p:nvSpPr>
        <p:spPr>
          <a:xfrm>
            <a:off x="128016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Symmetric</a:t>
            </a:r>
            <a:endParaRPr lang="en-US" sz="1800" dirty="0"/>
          </a:p>
        </p:txBody>
      </p:sp>
      <p:sp>
        <p:nvSpPr>
          <p:cNvPr id="21" name="Symmetric algorithms"/>
          <p:cNvSpPr txBox="1"/>
          <p:nvPr/>
        </p:nvSpPr>
        <p:spPr>
          <a:xfrm>
            <a:off x="64008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AES  |  DES</a:t>
            </a:r>
            <a:endParaRPr lang="en-US" sz="1400" dirty="0"/>
          </a:p>
        </p:txBody>
      </p:sp>
      <p:sp>
        <p:nvSpPr>
          <p:cNvPr id="22" name="Symmetric description"/>
          <p:cNvSpPr txBox="1"/>
          <p:nvPr/>
        </p:nvSpPr>
        <p:spPr>
          <a:xfrm>
            <a:off x="64008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shared secret key encrypts and decrypts.</a:t>
            </a:r>
            <a:endParaRPr lang="en-US" sz="1400" dirty="0"/>
          </a:p>
        </p:txBody>
      </p:sp>
      <p:sp>
        <p:nvSpPr>
          <p:cNvPr id="23" name="Asymmetric card"/>
          <p:cNvSpPr/>
          <p:nvPr/>
        </p:nvSpPr>
        <p:spPr>
          <a:xfrm>
            <a:off x="3291840" y="2514600"/>
            <a:ext cx="25603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4" name="Asymmetric circle"/>
          <p:cNvSpPr/>
          <p:nvPr/>
        </p:nvSpPr>
        <p:spPr>
          <a:xfrm>
            <a:off x="3474720" y="2651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Asymmetric icon" descr="Asymmetr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50" y="2777490"/>
            <a:ext cx="251460" cy="251460"/>
          </a:xfrm>
          <a:prstGeom prst="rect">
            <a:avLst/>
          </a:prstGeom>
        </p:spPr>
      </p:pic>
      <p:sp>
        <p:nvSpPr>
          <p:cNvPr id="26" name="Asymmetric name"/>
          <p:cNvSpPr txBox="1"/>
          <p:nvPr/>
        </p:nvSpPr>
        <p:spPr>
          <a:xfrm>
            <a:off x="411480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Asymmetric</a:t>
            </a:r>
            <a:endParaRPr lang="en-US" sz="1800" dirty="0"/>
          </a:p>
        </p:txBody>
      </p:sp>
      <p:sp>
        <p:nvSpPr>
          <p:cNvPr id="27" name="Asymmetric algorithms"/>
          <p:cNvSpPr txBox="1"/>
          <p:nvPr/>
        </p:nvSpPr>
        <p:spPr>
          <a:xfrm>
            <a:off x="347472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RSA  |  ECC</a:t>
            </a:r>
            <a:endParaRPr lang="en-US" sz="1400" dirty="0"/>
          </a:p>
        </p:txBody>
      </p:sp>
      <p:sp>
        <p:nvSpPr>
          <p:cNvPr id="28" name="Asymmetric description"/>
          <p:cNvSpPr txBox="1"/>
          <p:nvPr/>
        </p:nvSpPr>
        <p:spPr>
          <a:xfrm>
            <a:off x="347472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public key encrypts; a private key decrypts.</a:t>
            </a:r>
            <a:endParaRPr lang="en-US" sz="1400" dirty="0"/>
          </a:p>
        </p:txBody>
      </p:sp>
      <p:sp>
        <p:nvSpPr>
          <p:cNvPr id="29" name="Hashing card"/>
          <p:cNvSpPr/>
          <p:nvPr/>
        </p:nvSpPr>
        <p:spPr>
          <a:xfrm>
            <a:off x="6126480" y="2514600"/>
            <a:ext cx="25603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30" name="Hashing circle"/>
          <p:cNvSpPr/>
          <p:nvPr/>
        </p:nvSpPr>
        <p:spPr>
          <a:xfrm>
            <a:off x="6309360" y="2651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Hashing icon" descr="Hash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090" y="2777490"/>
            <a:ext cx="251460" cy="251460"/>
          </a:xfrm>
          <a:prstGeom prst="rect">
            <a:avLst/>
          </a:prstGeom>
        </p:spPr>
      </p:pic>
      <p:sp>
        <p:nvSpPr>
          <p:cNvPr id="32" name="Hashing name"/>
          <p:cNvSpPr txBox="1"/>
          <p:nvPr/>
        </p:nvSpPr>
        <p:spPr>
          <a:xfrm>
            <a:off x="694944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</a:t>
            </a:r>
            <a:endParaRPr lang="en-US" sz="1800" dirty="0"/>
          </a:p>
        </p:txBody>
      </p:sp>
      <p:sp>
        <p:nvSpPr>
          <p:cNvPr id="33" name="Hashing algorithms"/>
          <p:cNvSpPr txBox="1"/>
          <p:nvPr/>
        </p:nvSpPr>
        <p:spPr>
          <a:xfrm>
            <a:off x="630936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SHA-256  |  MD5</a:t>
            </a:r>
            <a:endParaRPr lang="en-US" sz="1400" dirty="0"/>
          </a:p>
        </p:txBody>
      </p:sp>
      <p:sp>
        <p:nvSpPr>
          <p:cNvPr id="34" name="Hashing description"/>
          <p:cNvSpPr txBox="1"/>
          <p:nvPr/>
        </p:nvSpPr>
        <p:spPr>
          <a:xfrm>
            <a:off x="630936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one-way fingerprint that verifies integrity.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How Steganography Works</a:t>
            </a:r>
            <a:endParaRPr lang="en-US" sz="3400" dirty="0"/>
          </a:p>
        </p:txBody>
      </p:sp>
      <p:sp>
        <p:nvSpPr>
          <p:cNvPr id="3" name="Node 1"/>
          <p:cNvSpPr/>
          <p:nvPr/>
        </p:nvSpPr>
        <p:spPr>
          <a:xfrm>
            <a:off x="457200" y="1280160"/>
            <a:ext cx="12801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4" name="Node 1 text"/>
          <p:cNvSpPr txBox="1"/>
          <p:nvPr/>
        </p:nvSpPr>
        <p:spPr>
          <a:xfrm>
            <a:off x="457200" y="1280160"/>
            <a:ext cx="12801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Secret message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+ cover file</a:t>
            </a:r>
            <a:endParaRPr lang="en-US" sz="1400" dirty="0"/>
          </a:p>
        </p:txBody>
      </p:sp>
      <p:sp>
        <p:nvSpPr>
          <p:cNvPr id="5" name="Arrow 1"/>
          <p:cNvSpPr/>
          <p:nvPr/>
        </p:nvSpPr>
        <p:spPr>
          <a:xfrm>
            <a:off x="1760220" y="1577340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6" name="Node 2"/>
          <p:cNvSpPr/>
          <p:nvPr/>
        </p:nvSpPr>
        <p:spPr>
          <a:xfrm>
            <a:off x="2057400" y="128016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/>
        </p:spPr>
      </p:sp>
      <p:sp>
        <p:nvSpPr>
          <p:cNvPr id="7" name="Node 2 text"/>
          <p:cNvSpPr txBox="1"/>
          <p:nvPr/>
        </p:nvSpPr>
        <p:spPr>
          <a:xfrm>
            <a:off x="2057400" y="1280160"/>
            <a:ext cx="15544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Embed</a:t>
            </a:r>
            <a:endParaRPr lang="en-US" sz="1400" dirty="0"/>
          </a:p>
        </p:txBody>
      </p:sp>
      <p:sp>
        <p:nvSpPr>
          <p:cNvPr id="8" name="Arrow 2"/>
          <p:cNvSpPr/>
          <p:nvPr/>
        </p:nvSpPr>
        <p:spPr>
          <a:xfrm>
            <a:off x="3634740" y="1577340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9" name="Node 3"/>
          <p:cNvSpPr/>
          <p:nvPr/>
        </p:nvSpPr>
        <p:spPr>
          <a:xfrm>
            <a:off x="3931920" y="1280160"/>
            <a:ext cx="128016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10" name="Node 3 text"/>
          <p:cNvSpPr txBox="1"/>
          <p:nvPr/>
        </p:nvSpPr>
        <p:spPr>
          <a:xfrm>
            <a:off x="3931920" y="1280160"/>
            <a:ext cx="12801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Stego file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looks normal</a:t>
            </a:r>
            <a:endParaRPr lang="en-US" sz="1400" dirty="0"/>
          </a:p>
        </p:txBody>
      </p:sp>
      <p:sp>
        <p:nvSpPr>
          <p:cNvPr id="11" name="Arrow 3"/>
          <p:cNvSpPr/>
          <p:nvPr/>
        </p:nvSpPr>
        <p:spPr>
          <a:xfrm>
            <a:off x="5234940" y="1577340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2" name="Node 4"/>
          <p:cNvSpPr/>
          <p:nvPr/>
        </p:nvSpPr>
        <p:spPr>
          <a:xfrm>
            <a:off x="5532120" y="128016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/>
        </p:spPr>
      </p:sp>
      <p:sp>
        <p:nvSpPr>
          <p:cNvPr id="13" name="Node 4 text"/>
          <p:cNvSpPr txBox="1"/>
          <p:nvPr/>
        </p:nvSpPr>
        <p:spPr>
          <a:xfrm>
            <a:off x="5532120" y="1280160"/>
            <a:ext cx="15544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Extract</a:t>
            </a:r>
            <a:endParaRPr lang="en-US" sz="1400" dirty="0"/>
          </a:p>
        </p:txBody>
      </p:sp>
      <p:sp>
        <p:nvSpPr>
          <p:cNvPr id="14" name="Arrow 4"/>
          <p:cNvSpPr/>
          <p:nvPr/>
        </p:nvSpPr>
        <p:spPr>
          <a:xfrm>
            <a:off x="7109460" y="1577340"/>
            <a:ext cx="274320" cy="274320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5" name="Node 5"/>
          <p:cNvSpPr/>
          <p:nvPr/>
        </p:nvSpPr>
        <p:spPr>
          <a:xfrm>
            <a:off x="7406640" y="1280160"/>
            <a:ext cx="12801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6" name="Node 5 text"/>
          <p:cNvSpPr txBox="1"/>
          <p:nvPr/>
        </p:nvSpPr>
        <p:spPr>
          <a:xfrm>
            <a:off x="7406640" y="1280160"/>
            <a:ext cx="12801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Secret message</a:t>
            </a:r>
            <a:endParaRPr lang="en-US" sz="1400" dirty="0"/>
          </a:p>
        </p:txBody>
      </p:sp>
      <p:sp>
        <p:nvSpPr>
          <p:cNvPr id="17" name="Goals heading"/>
          <p:cNvSpPr txBox="1"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design goals</a:t>
            </a:r>
            <a:endParaRPr lang="en-US" sz="2000" dirty="0"/>
          </a:p>
        </p:txBody>
      </p:sp>
      <p:sp>
        <p:nvSpPr>
          <p:cNvPr id="18" name="Goal 1 circle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Goal 1 number"/>
          <p:cNvSpPr txBox="1"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0" name="Goal 1 name"/>
          <p:cNvSpPr txBox="1"/>
          <p:nvPr/>
        </p:nvSpPr>
        <p:spPr>
          <a:xfrm>
            <a:off x="109728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Imperceptibility</a:t>
            </a:r>
            <a:endParaRPr lang="en-US" sz="1600" dirty="0"/>
          </a:p>
        </p:txBody>
      </p:sp>
      <p:sp>
        <p:nvSpPr>
          <p:cNvPr id="21" name="Goal 1 description"/>
          <p:cNvSpPr txBox="1"/>
          <p:nvPr/>
        </p:nvSpPr>
        <p:spPr>
          <a:xfrm>
            <a:off x="3291840" y="2834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visible or audible change to the cover file.</a:t>
            </a:r>
            <a:endParaRPr lang="en-US" sz="1400" dirty="0"/>
          </a:p>
        </p:txBody>
      </p:sp>
      <p:sp>
        <p:nvSpPr>
          <p:cNvPr id="22" name="Goal 2 circle"/>
          <p:cNvSpPr/>
          <p:nvPr/>
        </p:nvSpPr>
        <p:spPr>
          <a:xfrm>
            <a:off x="457200" y="341985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Goal 2 number"/>
          <p:cNvSpPr txBox="1"/>
          <p:nvPr/>
        </p:nvSpPr>
        <p:spPr>
          <a:xfrm>
            <a:off x="45720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24" name="Goal 2 name"/>
          <p:cNvSpPr txBox="1"/>
          <p:nvPr/>
        </p:nvSpPr>
        <p:spPr>
          <a:xfrm>
            <a:off x="1097280" y="34198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Capacity</a:t>
            </a:r>
            <a:endParaRPr lang="en-US" sz="1600" dirty="0"/>
          </a:p>
        </p:txBody>
      </p:sp>
      <p:sp>
        <p:nvSpPr>
          <p:cNvPr id="25" name="Goal 2 description"/>
          <p:cNvSpPr txBox="1"/>
          <p:nvPr/>
        </p:nvSpPr>
        <p:spPr>
          <a:xfrm>
            <a:off x="3291840" y="341985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How much secret data the cover can carry.</a:t>
            </a:r>
            <a:endParaRPr lang="en-US" sz="1400" dirty="0"/>
          </a:p>
        </p:txBody>
      </p:sp>
      <p:sp>
        <p:nvSpPr>
          <p:cNvPr id="26" name="Goal 3 circle"/>
          <p:cNvSpPr/>
          <p:nvPr/>
        </p:nvSpPr>
        <p:spPr>
          <a:xfrm>
            <a:off x="457200" y="400507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Goal 3 number"/>
          <p:cNvSpPr txBox="1"/>
          <p:nvPr/>
        </p:nvSpPr>
        <p:spPr>
          <a:xfrm>
            <a:off x="45720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8" name="Goal 3 name"/>
          <p:cNvSpPr txBox="1"/>
          <p:nvPr/>
        </p:nvSpPr>
        <p:spPr>
          <a:xfrm>
            <a:off x="1097280" y="40050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Robustness</a:t>
            </a:r>
            <a:endParaRPr lang="en-US" sz="1600" dirty="0"/>
          </a:p>
        </p:txBody>
      </p:sp>
      <p:sp>
        <p:nvSpPr>
          <p:cNvPr id="29" name="Goal 3 description"/>
          <p:cNvSpPr txBox="1"/>
          <p:nvPr/>
        </p:nvSpPr>
        <p:spPr>
          <a:xfrm>
            <a:off x="3291840" y="40050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Survives compression, resizing and noise.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LSB Technique in Action</a:t>
            </a:r>
            <a:endParaRPr lang="en-US" sz="3400" dirty="0"/>
          </a:p>
        </p:txBody>
      </p:sp>
      <p:sp>
        <p:nvSpPr>
          <p:cNvPr id="3" name="Original label"/>
          <p:cNvSpPr txBox="1"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Original pixel (red channel = 202)</a:t>
            </a:r>
            <a:endParaRPr lang="en-US" sz="1400" dirty="0"/>
          </a:p>
        </p:txBody>
      </p:sp>
      <p:sp>
        <p:nvSpPr>
          <p:cNvPr id="4" name="Original bit 1"/>
          <p:cNvSpPr/>
          <p:nvPr/>
        </p:nvSpPr>
        <p:spPr>
          <a:xfrm>
            <a:off x="457200" y="1645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5" name="Original bit 1 text"/>
          <p:cNvSpPr txBox="1"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Original bit 2"/>
          <p:cNvSpPr/>
          <p:nvPr/>
        </p:nvSpPr>
        <p:spPr>
          <a:xfrm>
            <a:off x="1033272" y="1645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7" name="Original bit 2 text"/>
          <p:cNvSpPr txBox="1"/>
          <p:nvPr/>
        </p:nvSpPr>
        <p:spPr>
          <a:xfrm>
            <a:off x="103327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Original bit 3"/>
          <p:cNvSpPr/>
          <p:nvPr/>
        </p:nvSpPr>
        <p:spPr>
          <a:xfrm>
            <a:off x="1609344" y="1645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9" name="Original bit 3 text"/>
          <p:cNvSpPr txBox="1"/>
          <p:nvPr/>
        </p:nvSpPr>
        <p:spPr>
          <a:xfrm>
            <a:off x="160934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Original bit 4"/>
          <p:cNvSpPr/>
          <p:nvPr/>
        </p:nvSpPr>
        <p:spPr>
          <a:xfrm>
            <a:off x="2185416" y="1645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1" name="Original bit 4 text"/>
          <p:cNvSpPr txBox="1"/>
          <p:nvPr/>
        </p:nvSpPr>
        <p:spPr>
          <a:xfrm>
            <a:off x="218541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2" name="Original bit 5"/>
          <p:cNvSpPr/>
          <p:nvPr/>
        </p:nvSpPr>
        <p:spPr>
          <a:xfrm>
            <a:off x="2761488" y="1645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3" name="Original bit 5 text"/>
          <p:cNvSpPr txBox="1"/>
          <p:nvPr/>
        </p:nvSpPr>
        <p:spPr>
          <a:xfrm>
            <a:off x="276148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Original bit 6"/>
          <p:cNvSpPr/>
          <p:nvPr/>
        </p:nvSpPr>
        <p:spPr>
          <a:xfrm>
            <a:off x="3337560" y="1645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5" name="Original bit 6 text"/>
          <p:cNvSpPr txBox="1"/>
          <p:nvPr/>
        </p:nvSpPr>
        <p:spPr>
          <a:xfrm>
            <a:off x="33375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6" name="Original bit 7"/>
          <p:cNvSpPr/>
          <p:nvPr/>
        </p:nvSpPr>
        <p:spPr>
          <a:xfrm>
            <a:off x="3913632" y="1645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7" name="Original bit 7 text"/>
          <p:cNvSpPr txBox="1"/>
          <p:nvPr/>
        </p:nvSpPr>
        <p:spPr>
          <a:xfrm>
            <a:off x="391363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Original bit 8"/>
          <p:cNvSpPr/>
          <p:nvPr/>
        </p:nvSpPr>
        <p:spPr>
          <a:xfrm>
            <a:off x="4489704" y="1645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</p:sp>
      <p:sp>
        <p:nvSpPr>
          <p:cNvPr id="19" name="Original bit 8 text"/>
          <p:cNvSpPr txBox="1"/>
          <p:nvPr/>
        </p:nvSpPr>
        <p:spPr>
          <a:xfrm>
            <a:off x="448970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Embed arrow"/>
          <p:cNvSpPr/>
          <p:nvPr/>
        </p:nvSpPr>
        <p:spPr>
          <a:xfrm>
            <a:off x="2560320" y="2240280"/>
            <a:ext cx="320040" cy="411480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21" name="Embed label"/>
          <p:cNvSpPr txBox="1"/>
          <p:nvPr/>
        </p:nvSpPr>
        <p:spPr>
          <a:xfrm>
            <a:off x="3017520" y="2304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Embed secret bit = 1</a:t>
            </a:r>
            <a:endParaRPr lang="en-US" sz="1400" dirty="0"/>
          </a:p>
        </p:txBody>
      </p:sp>
      <p:sp>
        <p:nvSpPr>
          <p:cNvPr id="22" name="Modified bit 1"/>
          <p:cNvSpPr/>
          <p:nvPr/>
        </p:nvSpPr>
        <p:spPr>
          <a:xfrm>
            <a:off x="457200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3" name="Modified bit 1 text"/>
          <p:cNvSpPr txBox="1"/>
          <p:nvPr/>
        </p:nvSpPr>
        <p:spPr>
          <a:xfrm>
            <a:off x="4572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Modified bit 2"/>
          <p:cNvSpPr/>
          <p:nvPr/>
        </p:nvSpPr>
        <p:spPr>
          <a:xfrm>
            <a:off x="1033272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5" name="Modified bit 2 text"/>
          <p:cNvSpPr txBox="1"/>
          <p:nvPr/>
        </p:nvSpPr>
        <p:spPr>
          <a:xfrm>
            <a:off x="1033272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Modified bit 3"/>
          <p:cNvSpPr/>
          <p:nvPr/>
        </p:nvSpPr>
        <p:spPr>
          <a:xfrm>
            <a:off x="1609344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7" name="Modified bit 3 text"/>
          <p:cNvSpPr txBox="1"/>
          <p:nvPr/>
        </p:nvSpPr>
        <p:spPr>
          <a:xfrm>
            <a:off x="1609344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8" name="Modified bit 4"/>
          <p:cNvSpPr/>
          <p:nvPr/>
        </p:nvSpPr>
        <p:spPr>
          <a:xfrm>
            <a:off x="2185416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9" name="Modified bit 4 text"/>
          <p:cNvSpPr txBox="1"/>
          <p:nvPr/>
        </p:nvSpPr>
        <p:spPr>
          <a:xfrm>
            <a:off x="2185416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0" name="Modified bit 5"/>
          <p:cNvSpPr/>
          <p:nvPr/>
        </p:nvSpPr>
        <p:spPr>
          <a:xfrm>
            <a:off x="2761488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31" name="Modified bit 5 text"/>
          <p:cNvSpPr txBox="1"/>
          <p:nvPr/>
        </p:nvSpPr>
        <p:spPr>
          <a:xfrm>
            <a:off x="276148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Modified bit 6"/>
          <p:cNvSpPr/>
          <p:nvPr/>
        </p:nvSpPr>
        <p:spPr>
          <a:xfrm>
            <a:off x="3337560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33" name="Modified bit 6 text"/>
          <p:cNvSpPr txBox="1"/>
          <p:nvPr/>
        </p:nvSpPr>
        <p:spPr>
          <a:xfrm>
            <a:off x="33375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4" name="Modified bit 7"/>
          <p:cNvSpPr/>
          <p:nvPr/>
        </p:nvSpPr>
        <p:spPr>
          <a:xfrm>
            <a:off x="3913632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35" name="Modified bit 7 text"/>
          <p:cNvSpPr txBox="1"/>
          <p:nvPr/>
        </p:nvSpPr>
        <p:spPr>
          <a:xfrm>
            <a:off x="3913632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6" name="Modified bit 8"/>
          <p:cNvSpPr/>
          <p:nvPr/>
        </p:nvSpPr>
        <p:spPr>
          <a:xfrm>
            <a:off x="4489704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/>
        </p:spPr>
      </p:sp>
      <p:sp>
        <p:nvSpPr>
          <p:cNvPr id="37" name="Modified bit 8 text"/>
          <p:cNvSpPr txBox="1"/>
          <p:nvPr/>
        </p:nvSpPr>
        <p:spPr>
          <a:xfrm>
            <a:off x="4489704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8" name="Modified label"/>
          <p:cNvSpPr txBox="1"/>
          <p:nvPr/>
        </p:nvSpPr>
        <p:spPr>
          <a:xfrm>
            <a:off x="45720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Stego pixel (red channel = 203)</a:t>
            </a:r>
            <a:endParaRPr lang="en-US" sz="1400" dirty="0"/>
          </a:p>
        </p:txBody>
      </p:sp>
      <p:sp>
        <p:nvSpPr>
          <p:cNvPr id="39" name="LSB note"/>
          <p:cNvSpPr txBox="1"/>
          <p:nvPr/>
        </p:nvSpPr>
        <p:spPr>
          <a:xfrm>
            <a:off x="45720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Only the last bit changes, the one that matters least to the colour.</a:t>
            </a:r>
            <a:endParaRPr lang="en-US" sz="1400" dirty="0"/>
          </a:p>
        </p:txBody>
      </p:sp>
      <p:sp>
        <p:nvSpPr>
          <p:cNvPr id="40" name="Stat card"/>
          <p:cNvSpPr/>
          <p:nvPr/>
        </p:nvSpPr>
        <p:spPr>
          <a:xfrm>
            <a:off x="5394960" y="1280160"/>
            <a:ext cx="3291840" cy="3200400"/>
          </a:xfrm>
          <a:prstGeom prst="roundRect">
            <a:avLst>
              <a:gd name="adj" fmla="val 3429"/>
            </a:avLst>
          </a:prstGeom>
          <a:solidFill>
            <a:schemeClr val="tx1"/>
          </a:solidFill>
          <a:ln/>
        </p:spPr>
      </p:sp>
      <p:sp>
        <p:nvSpPr>
          <p:cNvPr id="41" name="Stat value"/>
          <p:cNvSpPr txBox="1"/>
          <p:nvPr/>
        </p:nvSpPr>
        <p:spPr>
          <a:xfrm>
            <a:off x="5577840" y="14630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</a:t>
            </a:r>
            <a:endParaRPr lang="en-US" sz="6000" dirty="0"/>
          </a:p>
        </p:txBody>
      </p:sp>
      <p:sp>
        <p:nvSpPr>
          <p:cNvPr id="42" name="Stat caption"/>
          <p:cNvSpPr txBox="1"/>
          <p:nvPr/>
        </p:nvSpPr>
        <p:spPr>
          <a:xfrm>
            <a:off x="5577840" y="2514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Maximum change per colour channel (out of 255), far below what the eye can notice.</a:t>
            </a:r>
            <a:endParaRPr lang="en-US" sz="1400" dirty="0"/>
          </a:p>
        </p:txBody>
      </p:sp>
      <p:sp>
        <p:nvSpPr>
          <p:cNvPr id="43" name="Capacity note"/>
          <p:cNvSpPr txBox="1"/>
          <p:nvPr/>
        </p:nvSpPr>
        <p:spPr>
          <a:xfrm>
            <a:off x="5577840" y="3474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 1000 × 1000 image can hide about 375 KB at 1 bit per channel.</a:t>
            </a:r>
            <a:endParaRPr lang="en-US" sz="14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Data Can Hide</a:t>
            </a:r>
            <a:endParaRPr lang="en-US" sz="3400" dirty="0"/>
          </a:p>
        </p:txBody>
      </p:sp>
      <p:sp>
        <p:nvSpPr>
          <p:cNvPr id="3" name="Image card"/>
          <p:cNvSpPr/>
          <p:nvPr/>
        </p:nvSpPr>
        <p:spPr>
          <a:xfrm>
            <a:off x="457200" y="123444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4" name="Image circle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icon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543050"/>
            <a:ext cx="251460" cy="251460"/>
          </a:xfrm>
          <a:prstGeom prst="rect">
            <a:avLst/>
          </a:prstGeom>
        </p:spPr>
      </p:pic>
      <p:sp>
        <p:nvSpPr>
          <p:cNvPr id="6" name="Image name"/>
          <p:cNvSpPr txBox="1"/>
          <p:nvPr/>
        </p:nvSpPr>
        <p:spPr>
          <a:xfrm>
            <a:off x="128016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1800" dirty="0"/>
          </a:p>
        </p:txBody>
      </p:sp>
      <p:sp>
        <p:nvSpPr>
          <p:cNvPr id="7" name="Image description"/>
          <p:cNvSpPr txBox="1"/>
          <p:nvPr/>
        </p:nvSpPr>
        <p:spPr>
          <a:xfrm>
            <a:off x="64008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Tweak pixel bits (LSB) in PNG or BMP files.</a:t>
            </a:r>
            <a:endParaRPr lang="en-US" sz="1400" dirty="0"/>
          </a:p>
        </p:txBody>
      </p:sp>
      <p:sp>
        <p:nvSpPr>
          <p:cNvPr id="8" name="Audio card"/>
          <p:cNvSpPr/>
          <p:nvPr/>
        </p:nvSpPr>
        <p:spPr>
          <a:xfrm>
            <a:off x="3291840" y="123444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9" name="Audio circle"/>
          <p:cNvSpPr/>
          <p:nvPr/>
        </p:nvSpPr>
        <p:spPr>
          <a:xfrm>
            <a:off x="3474720" y="14173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Audio icon" descr="Audi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50" y="1543050"/>
            <a:ext cx="251460" cy="251460"/>
          </a:xfrm>
          <a:prstGeom prst="rect">
            <a:avLst/>
          </a:prstGeom>
        </p:spPr>
      </p:pic>
      <p:sp>
        <p:nvSpPr>
          <p:cNvPr id="11" name="Audio name"/>
          <p:cNvSpPr txBox="1"/>
          <p:nvPr/>
        </p:nvSpPr>
        <p:spPr>
          <a:xfrm>
            <a:off x="411480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</a:t>
            </a:r>
            <a:endParaRPr lang="en-US" sz="1800" dirty="0"/>
          </a:p>
        </p:txBody>
      </p:sp>
      <p:sp>
        <p:nvSpPr>
          <p:cNvPr id="12" name="Audio description"/>
          <p:cNvSpPr txBox="1"/>
          <p:nvPr/>
        </p:nvSpPr>
        <p:spPr>
          <a:xfrm>
            <a:off x="347472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Echo or phase changes inside sound waves.</a:t>
            </a:r>
            <a:endParaRPr lang="en-US" sz="1400" dirty="0"/>
          </a:p>
        </p:txBody>
      </p:sp>
      <p:sp>
        <p:nvSpPr>
          <p:cNvPr id="13" name="Video card"/>
          <p:cNvSpPr/>
          <p:nvPr/>
        </p:nvSpPr>
        <p:spPr>
          <a:xfrm>
            <a:off x="6126480" y="123444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4" name="Video circle"/>
          <p:cNvSpPr/>
          <p:nvPr/>
        </p:nvSpPr>
        <p:spPr>
          <a:xfrm>
            <a:off x="6309360" y="14173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Video icon" descr="Vide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090" y="1543050"/>
            <a:ext cx="251460" cy="251460"/>
          </a:xfrm>
          <a:prstGeom prst="rect">
            <a:avLst/>
          </a:prstGeom>
        </p:spPr>
      </p:pic>
      <p:sp>
        <p:nvSpPr>
          <p:cNvPr id="16" name="Video name"/>
          <p:cNvSpPr txBox="1"/>
          <p:nvPr/>
        </p:nvSpPr>
        <p:spPr>
          <a:xfrm>
            <a:off x="694944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</a:t>
            </a:r>
            <a:endParaRPr lang="en-US" sz="1800" dirty="0"/>
          </a:p>
        </p:txBody>
      </p:sp>
      <p:sp>
        <p:nvSpPr>
          <p:cNvPr id="17" name="Video description"/>
          <p:cNvSpPr txBox="1"/>
          <p:nvPr/>
        </p:nvSpPr>
        <p:spPr>
          <a:xfrm>
            <a:off x="630936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Spread data across many frames.</a:t>
            </a:r>
            <a:endParaRPr lang="en-US" sz="1400" dirty="0"/>
          </a:p>
        </p:txBody>
      </p:sp>
      <p:sp>
        <p:nvSpPr>
          <p:cNvPr id="18" name="Text card"/>
          <p:cNvSpPr/>
          <p:nvPr/>
        </p:nvSpPr>
        <p:spPr>
          <a:xfrm>
            <a:off x="45720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9" name="Text circle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Text icon" descr="Tex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" y="3280410"/>
            <a:ext cx="251460" cy="251460"/>
          </a:xfrm>
          <a:prstGeom prst="rect">
            <a:avLst/>
          </a:prstGeom>
        </p:spPr>
      </p:pic>
      <p:sp>
        <p:nvSpPr>
          <p:cNvPr id="21" name="Text name"/>
          <p:cNvSpPr txBox="1"/>
          <p:nvPr/>
        </p:nvSpPr>
        <p:spPr>
          <a:xfrm>
            <a:off x="128016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1800" dirty="0"/>
          </a:p>
        </p:txBody>
      </p:sp>
      <p:sp>
        <p:nvSpPr>
          <p:cNvPr id="22" name="Text description"/>
          <p:cNvSpPr txBox="1"/>
          <p:nvPr/>
        </p:nvSpPr>
        <p:spPr>
          <a:xfrm>
            <a:off x="640080" y="3794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Extra whitespace and zero-width characters.</a:t>
            </a:r>
            <a:endParaRPr lang="en-US" sz="1400" dirty="0"/>
          </a:p>
        </p:txBody>
      </p:sp>
      <p:sp>
        <p:nvSpPr>
          <p:cNvPr id="23" name="Network card"/>
          <p:cNvSpPr/>
          <p:nvPr/>
        </p:nvSpPr>
        <p:spPr>
          <a:xfrm>
            <a:off x="329184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4" name="Network circle"/>
          <p:cNvSpPr/>
          <p:nvPr/>
        </p:nvSpPr>
        <p:spPr>
          <a:xfrm>
            <a:off x="3474720" y="31546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Network icon" descr="Networ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0450" y="3280410"/>
            <a:ext cx="251460" cy="251460"/>
          </a:xfrm>
          <a:prstGeom prst="rect">
            <a:avLst/>
          </a:prstGeom>
        </p:spPr>
      </p:pic>
      <p:sp>
        <p:nvSpPr>
          <p:cNvPr id="26" name="Network name"/>
          <p:cNvSpPr txBox="1"/>
          <p:nvPr/>
        </p:nvSpPr>
        <p:spPr>
          <a:xfrm>
            <a:off x="411480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800" dirty="0"/>
          </a:p>
        </p:txBody>
      </p:sp>
      <p:sp>
        <p:nvSpPr>
          <p:cNvPr id="27" name="Network description"/>
          <p:cNvSpPr txBox="1"/>
          <p:nvPr/>
        </p:nvSpPr>
        <p:spPr>
          <a:xfrm>
            <a:off x="3474720" y="3794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Unused fields in TCP/IP headers.</a:t>
            </a:r>
            <a:endParaRPr lang="en-US" sz="1400" dirty="0"/>
          </a:p>
        </p:txBody>
      </p:sp>
      <p:sp>
        <p:nvSpPr>
          <p:cNvPr id="28" name="Files card"/>
          <p:cNvSpPr/>
          <p:nvPr/>
        </p:nvSpPr>
        <p:spPr>
          <a:xfrm>
            <a:off x="6126480" y="297180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29" name="Files circle"/>
          <p:cNvSpPr/>
          <p:nvPr/>
        </p:nvSpPr>
        <p:spPr>
          <a:xfrm>
            <a:off x="6309360" y="31546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Files icon" descr="Fil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5090" y="3280410"/>
            <a:ext cx="251460" cy="251460"/>
          </a:xfrm>
          <a:prstGeom prst="rect">
            <a:avLst/>
          </a:prstGeom>
        </p:spPr>
      </p:pic>
      <p:sp>
        <p:nvSpPr>
          <p:cNvPr id="31" name="Files name"/>
          <p:cNvSpPr txBox="1"/>
          <p:nvPr/>
        </p:nvSpPr>
        <p:spPr>
          <a:xfrm>
            <a:off x="6949440" y="3154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</a:t>
            </a:r>
            <a:endParaRPr lang="en-US" sz="1800" dirty="0"/>
          </a:p>
        </p:txBody>
      </p:sp>
      <p:sp>
        <p:nvSpPr>
          <p:cNvPr id="32" name="Files description"/>
          <p:cNvSpPr txBox="1"/>
          <p:nvPr/>
        </p:nvSpPr>
        <p:spPr>
          <a:xfrm>
            <a:off x="6309360" y="3794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Metadata and unused file-structure space.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Head-to-Head Comparison</a:t>
            </a:r>
            <a:endParaRPr lang="en-US" sz="3400" dirty="0"/>
          </a:p>
        </p:txBody>
      </p:sp>
      <p:graphicFrame>
        <p:nvGraphicFramePr>
          <p:cNvPr id="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Cryptography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Steganography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Make data unreadable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Make data unnoticeable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Message visible?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Yes, as ciphertext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No, looks like a normal file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Key required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Always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Optional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Main weakness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Signals “secret here”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Fragile if the cover changes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Attacked by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Cryptanalysis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Steganalysis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Examples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AES, RSA, SHA-256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LSB, echo, phase coding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Strengths and Limits</a:t>
            </a:r>
            <a:endParaRPr lang="en-US" sz="3400" dirty="0"/>
          </a:p>
        </p:txBody>
      </p:sp>
      <p:sp>
        <p:nvSpPr>
          <p:cNvPr id="3" name="Cryptography card"/>
          <p:cNvSpPr/>
          <p:nvPr/>
        </p:nvSpPr>
        <p:spPr>
          <a:xfrm>
            <a:off x="457200" y="123444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Cryptography circle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ryptography icon" descr="Cryptograph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54480"/>
            <a:ext cx="274320" cy="274320"/>
          </a:xfrm>
          <a:prstGeom prst="rect">
            <a:avLst/>
          </a:prstGeom>
        </p:spPr>
      </p:pic>
      <p:sp>
        <p:nvSpPr>
          <p:cNvPr id="6" name="Cryptography name"/>
          <p:cNvSpPr txBox="1"/>
          <p:nvPr/>
        </p:nvSpPr>
        <p:spPr>
          <a:xfrm>
            <a:off x="1463040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</a:t>
            </a:r>
            <a:endParaRPr lang="en-US" sz="2200" dirty="0"/>
          </a:p>
        </p:txBody>
      </p:sp>
      <p:sp>
        <p:nvSpPr>
          <p:cNvPr id="7" name="Cryptography points"/>
          <p:cNvSpPr txBox="1"/>
          <p:nvPr/>
        </p:nvSpPr>
        <p:spPr>
          <a:xfrm>
            <a:off x="731520" y="21945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Strengths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Mathematically strong (AES-256)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Standardised and widely trusted</a:t>
            </a:r>
            <a:endParaRPr lang="en-US" sz="1400" dirty="0"/>
          </a:p>
          <a:p>
            <a:pPr marL="0" indent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Limits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Reveals that a secret exists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Key management is hard</a:t>
            </a:r>
            <a:endParaRPr lang="en-US" sz="1400" dirty="0"/>
          </a:p>
        </p:txBody>
      </p:sp>
      <p:sp>
        <p:nvSpPr>
          <p:cNvPr id="8" name="Steganography card"/>
          <p:cNvSpPr/>
          <p:nvPr/>
        </p:nvSpPr>
        <p:spPr>
          <a:xfrm>
            <a:off x="4663440" y="123444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9" name="Steganography circle"/>
          <p:cNvSpPr/>
          <p:nvPr/>
        </p:nvSpPr>
        <p:spPr>
          <a:xfrm>
            <a:off x="493776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Steganography icon" descr="Steganograph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554480"/>
            <a:ext cx="274320" cy="274320"/>
          </a:xfrm>
          <a:prstGeom prst="rect">
            <a:avLst/>
          </a:prstGeom>
        </p:spPr>
      </p:pic>
      <p:sp>
        <p:nvSpPr>
          <p:cNvPr id="11" name="Steganography name"/>
          <p:cNvSpPr txBox="1"/>
          <p:nvPr/>
        </p:nvSpPr>
        <p:spPr>
          <a:xfrm>
            <a:off x="5669280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Steganography</a:t>
            </a:r>
            <a:endParaRPr lang="en-US" sz="2200" dirty="0"/>
          </a:p>
        </p:txBody>
      </p:sp>
      <p:sp>
        <p:nvSpPr>
          <p:cNvPr id="12" name="Steganography points"/>
          <p:cNvSpPr txBox="1"/>
          <p:nvPr/>
        </p:nvSpPr>
        <p:spPr>
          <a:xfrm>
            <a:off x="4937760" y="21945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Strengths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Hides that communication exists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Gives plausible deniability</a:t>
            </a:r>
            <a:endParaRPr lang="en-US" sz="1400" dirty="0"/>
          </a:p>
          <a:p>
            <a:pPr marL="0" indent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Limits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 capacity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Breaks on compression or resizing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They’re Used</a:t>
            </a:r>
            <a:endParaRPr lang="en-US" sz="3400" dirty="0"/>
          </a:p>
        </p:txBody>
      </p:sp>
      <p:sp>
        <p:nvSpPr>
          <p:cNvPr id="3" name="Secure web &amp; payments card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Secure web &amp; payments circle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ecure web &amp; payments icon" descr="Secure web &amp; payme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274320" cy="274320"/>
          </a:xfrm>
          <a:prstGeom prst="rect">
            <a:avLst/>
          </a:prstGeom>
        </p:spPr>
      </p:pic>
      <p:sp>
        <p:nvSpPr>
          <p:cNvPr id="6" name="Secure web &amp;amp; payments title"/>
          <p:cNvSpPr txBox="1"/>
          <p:nvPr/>
        </p:nvSpPr>
        <p:spPr>
          <a:xfrm>
            <a:off x="141732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Secure web &amp; payments</a:t>
            </a:r>
            <a:endParaRPr lang="en-US" sz="1600" dirty="0"/>
          </a:p>
        </p:txBody>
      </p:sp>
      <p:sp>
        <p:nvSpPr>
          <p:cNvPr id="7" name="Secure web &amp;amp; payments description"/>
          <p:cNvSpPr txBox="1"/>
          <p:nvPr/>
        </p:nvSpPr>
        <p:spPr>
          <a:xfrm>
            <a:off x="1417320" y="1783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HTTPS/TLS, online banking and UPI protect your money.</a:t>
            </a:r>
            <a:endParaRPr lang="en-US" sz="1400" dirty="0"/>
          </a:p>
        </p:txBody>
      </p:sp>
      <p:sp>
        <p:nvSpPr>
          <p:cNvPr id="8" name="Secure web &amp; payments tag"/>
          <p:cNvSpPr/>
          <p:nvPr/>
        </p:nvSpPr>
        <p:spPr>
          <a:xfrm>
            <a:off x="1417320" y="242316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Secure web &amp;amp; payments tag text"/>
          <p:cNvSpPr txBox="1"/>
          <p:nvPr/>
        </p:nvSpPr>
        <p:spPr>
          <a:xfrm>
            <a:off x="1417320" y="24231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CRYPTO</a:t>
            </a:r>
            <a:endParaRPr lang="en-US" sz="1100" dirty="0"/>
          </a:p>
        </p:txBody>
      </p:sp>
      <p:sp>
        <p:nvSpPr>
          <p:cNvPr id="10" name="Messaging &amp; storage card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1" name="Messaging &amp; storage circle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Messaging &amp; storage icon" descr="Messaging &amp; stor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00200"/>
            <a:ext cx="274320" cy="274320"/>
          </a:xfrm>
          <a:prstGeom prst="rect">
            <a:avLst/>
          </a:prstGeom>
        </p:spPr>
      </p:pic>
      <p:sp>
        <p:nvSpPr>
          <p:cNvPr id="13" name="Messaging &amp;amp; storage title"/>
          <p:cNvSpPr txBox="1"/>
          <p:nvPr/>
        </p:nvSpPr>
        <p:spPr>
          <a:xfrm>
            <a:off x="562356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Messaging &amp; storage</a:t>
            </a:r>
            <a:endParaRPr lang="en-US" sz="1600" dirty="0"/>
          </a:p>
        </p:txBody>
      </p:sp>
      <p:sp>
        <p:nvSpPr>
          <p:cNvPr id="14" name="Messaging &amp;amp; storage description"/>
          <p:cNvSpPr txBox="1"/>
          <p:nvPr/>
        </p:nvSpPr>
        <p:spPr>
          <a:xfrm>
            <a:off x="5623560" y="1783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End-to-end chat encryption and encrypted disks.</a:t>
            </a:r>
            <a:endParaRPr lang="en-US" sz="1400" dirty="0"/>
          </a:p>
        </p:txBody>
      </p:sp>
      <p:sp>
        <p:nvSpPr>
          <p:cNvPr id="15" name="Messaging &amp; storage tag"/>
          <p:cNvSpPr/>
          <p:nvPr/>
        </p:nvSpPr>
        <p:spPr>
          <a:xfrm>
            <a:off x="5623560" y="242316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Messaging &amp;amp; storage tag text"/>
          <p:cNvSpPr txBox="1"/>
          <p:nvPr/>
        </p:nvSpPr>
        <p:spPr>
          <a:xfrm>
            <a:off x="5623560" y="24231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CRYPTO</a:t>
            </a:r>
            <a:endParaRPr lang="en-US" sz="1100" dirty="0"/>
          </a:p>
        </p:txBody>
      </p:sp>
      <p:sp>
        <p:nvSpPr>
          <p:cNvPr id="17" name="Digital watermarking card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8" name="Digital watermarking circle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Digital watermarking icon" descr="Digital watermark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337560"/>
            <a:ext cx="274320" cy="274320"/>
          </a:xfrm>
          <a:prstGeom prst="rect">
            <a:avLst/>
          </a:prstGeom>
        </p:spPr>
      </p:pic>
      <p:sp>
        <p:nvSpPr>
          <p:cNvPr id="20" name="Digital watermarking title"/>
          <p:cNvSpPr txBox="1"/>
          <p:nvPr/>
        </p:nvSpPr>
        <p:spPr>
          <a:xfrm>
            <a:off x="141732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Digital watermarking</a:t>
            </a:r>
            <a:endParaRPr lang="en-US" sz="1600" dirty="0"/>
          </a:p>
        </p:txBody>
      </p:sp>
      <p:sp>
        <p:nvSpPr>
          <p:cNvPr id="21" name="Digital watermarking description"/>
          <p:cNvSpPr txBox="1"/>
          <p:nvPr/>
        </p:nvSpPr>
        <p:spPr>
          <a:xfrm>
            <a:off x="1417320" y="35204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Hidden copyright marks prove who owns an image or song.</a:t>
            </a:r>
            <a:endParaRPr lang="en-US" sz="1400" dirty="0"/>
          </a:p>
        </p:txBody>
      </p:sp>
      <p:sp>
        <p:nvSpPr>
          <p:cNvPr id="22" name="Digital watermarking tag"/>
          <p:cNvSpPr/>
          <p:nvPr/>
        </p:nvSpPr>
        <p:spPr>
          <a:xfrm>
            <a:off x="1417320" y="416052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3" name="Digital watermarking tag text"/>
          <p:cNvSpPr txBox="1"/>
          <p:nvPr/>
        </p:nvSpPr>
        <p:spPr>
          <a:xfrm>
            <a:off x="1417320" y="41605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STEGO</a:t>
            </a:r>
            <a:endParaRPr lang="en-US" sz="1100" dirty="0"/>
          </a:p>
        </p:txBody>
      </p:sp>
      <p:sp>
        <p:nvSpPr>
          <p:cNvPr id="24" name="Covert channels &amp; malware card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5" name="Covert channels &amp; malware circle"/>
          <p:cNvSpPr/>
          <p:nvPr/>
        </p:nvSpPr>
        <p:spPr>
          <a:xfrm>
            <a:off x="4892040" y="3200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Covert channels &amp; malware icon" descr="Covert channels &amp; malwa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337560"/>
            <a:ext cx="274320" cy="274320"/>
          </a:xfrm>
          <a:prstGeom prst="rect">
            <a:avLst/>
          </a:prstGeom>
        </p:spPr>
      </p:pic>
      <p:sp>
        <p:nvSpPr>
          <p:cNvPr id="27" name="Covert channels &amp;amp; malware title"/>
          <p:cNvSpPr txBox="1"/>
          <p:nvPr/>
        </p:nvSpPr>
        <p:spPr>
          <a:xfrm>
            <a:off x="562356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Covert channels &amp; malware</a:t>
            </a:r>
            <a:endParaRPr lang="en-US" sz="1600" dirty="0"/>
          </a:p>
        </p:txBody>
      </p:sp>
      <p:sp>
        <p:nvSpPr>
          <p:cNvPr id="28" name="Covert channels &amp;amp; malware description"/>
          <p:cNvSpPr txBox="1"/>
          <p:nvPr/>
        </p:nvSpPr>
        <p:spPr>
          <a:xfrm>
            <a:off x="5623560" y="35204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Attackers hide payloads in images; analysts hunt for them.</a:t>
            </a:r>
            <a:endParaRPr lang="en-US" sz="1400" dirty="0"/>
          </a:p>
        </p:txBody>
      </p:sp>
      <p:sp>
        <p:nvSpPr>
          <p:cNvPr id="29" name="Covert channels &amp; malware tag"/>
          <p:cNvSpPr/>
          <p:nvPr/>
        </p:nvSpPr>
        <p:spPr>
          <a:xfrm>
            <a:off x="5623560" y="416052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0" name="Covert channels &amp;amp; malware tag text"/>
          <p:cNvSpPr txBox="1"/>
          <p:nvPr/>
        </p:nvSpPr>
        <p:spPr>
          <a:xfrm>
            <a:off x="5623560" y="41605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STEGO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Better Together</a:t>
            </a:r>
            <a:endParaRPr lang="en-US" sz="3400" dirty="0"/>
          </a:p>
        </p:txBody>
      </p:sp>
      <p:sp>
        <p:nvSpPr>
          <p:cNvPr id="3" name="Steganography ring"/>
          <p:cNvSpPr/>
          <p:nvPr/>
        </p:nvSpPr>
        <p:spPr>
          <a:xfrm>
            <a:off x="548640" y="1234440"/>
            <a:ext cx="3291840" cy="32918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Cryptography ring"/>
          <p:cNvSpPr/>
          <p:nvPr/>
        </p:nvSpPr>
        <p:spPr>
          <a:xfrm>
            <a:off x="1097280" y="1783080"/>
            <a:ext cx="2194560" cy="21945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ecret core"/>
          <p:cNvSpPr/>
          <p:nvPr/>
        </p:nvSpPr>
        <p:spPr>
          <a:xfrm>
            <a:off x="1600200" y="2286000"/>
            <a:ext cx="1188720" cy="11887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Steganography ring label"/>
          <p:cNvSpPr txBox="1"/>
          <p:nvPr/>
        </p:nvSpPr>
        <p:spPr>
          <a:xfrm>
            <a:off x="54864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Steganography</a:t>
            </a:r>
            <a:endParaRPr lang="en-US" sz="1400" dirty="0"/>
          </a:p>
        </p:txBody>
      </p:sp>
      <p:sp>
        <p:nvSpPr>
          <p:cNvPr id="7" name="Cryptography ring label"/>
          <p:cNvSpPr txBox="1"/>
          <p:nvPr/>
        </p:nvSpPr>
        <p:spPr>
          <a:xfrm>
            <a:off x="1097280" y="19019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Cryptography</a:t>
            </a:r>
            <a:endParaRPr lang="en-US" sz="1400" dirty="0"/>
          </a:p>
        </p:txBody>
      </p:sp>
      <p:sp>
        <p:nvSpPr>
          <p:cNvPr id="8" name="Secret core label"/>
          <p:cNvSpPr txBox="1"/>
          <p:nvPr/>
        </p:nvSpPr>
        <p:spPr>
          <a:xfrm>
            <a:off x="1600200" y="22860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Secret message</a:t>
            </a:r>
            <a:endParaRPr lang="en-US" sz="1400" dirty="0"/>
          </a:p>
        </p:txBody>
      </p:sp>
      <p:sp>
        <p:nvSpPr>
          <p:cNvPr id="9" name="Step 1 circle"/>
          <p:cNvSpPr/>
          <p:nvPr/>
        </p:nvSpPr>
        <p:spPr>
          <a:xfrm>
            <a:off x="4389120" y="132588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Step 1 number"/>
          <p:cNvSpPr txBox="1"/>
          <p:nvPr/>
        </p:nvSpPr>
        <p:spPr>
          <a:xfrm>
            <a:off x="43891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Step 1 title"/>
          <p:cNvSpPr txBox="1"/>
          <p:nvPr/>
        </p:nvSpPr>
        <p:spPr>
          <a:xfrm>
            <a:off x="5120640" y="13075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 first</a:t>
            </a:r>
            <a:endParaRPr lang="en-US" sz="1800" dirty="0"/>
          </a:p>
        </p:txBody>
      </p:sp>
      <p:sp>
        <p:nvSpPr>
          <p:cNvPr id="12" name="Step 1 description"/>
          <p:cNvSpPr txBox="1"/>
          <p:nvPr/>
        </p:nvSpPr>
        <p:spPr>
          <a:xfrm>
            <a:off x="5120640" y="166420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Turn the message into unreadable ciphertext.</a:t>
            </a:r>
            <a:endParaRPr lang="en-US" sz="1400" dirty="0"/>
          </a:p>
        </p:txBody>
      </p:sp>
      <p:sp>
        <p:nvSpPr>
          <p:cNvPr id="13" name="Step 2 circle"/>
          <p:cNvSpPr/>
          <p:nvPr/>
        </p:nvSpPr>
        <p:spPr>
          <a:xfrm>
            <a:off x="4389120" y="24231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Step 2 number"/>
          <p:cNvSpPr txBox="1"/>
          <p:nvPr/>
        </p:nvSpPr>
        <p:spPr>
          <a:xfrm>
            <a:off x="43891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Step 2 title"/>
          <p:cNvSpPr txBox="1"/>
          <p:nvPr/>
        </p:nvSpPr>
        <p:spPr>
          <a:xfrm>
            <a:off x="5120640" y="2404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hide it</a:t>
            </a:r>
            <a:endParaRPr lang="en-US" sz="1800" dirty="0"/>
          </a:p>
        </p:txBody>
      </p:sp>
      <p:sp>
        <p:nvSpPr>
          <p:cNvPr id="16" name="Step 2 description"/>
          <p:cNvSpPr txBox="1"/>
          <p:nvPr/>
        </p:nvSpPr>
        <p:spPr>
          <a:xfrm>
            <a:off x="5120640" y="27614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Embed the ciphertext inside an innocent cover file.</a:t>
            </a:r>
            <a:endParaRPr lang="en-US" sz="1400" dirty="0"/>
          </a:p>
        </p:txBody>
      </p:sp>
      <p:sp>
        <p:nvSpPr>
          <p:cNvPr id="17" name="Step 3 circle"/>
          <p:cNvSpPr/>
          <p:nvPr/>
        </p:nvSpPr>
        <p:spPr>
          <a:xfrm>
            <a:off x="4389120" y="352044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Step 3 number"/>
          <p:cNvSpPr txBox="1"/>
          <p:nvPr/>
        </p:nvSpPr>
        <p:spPr>
          <a:xfrm>
            <a:off x="43891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Step 3 title"/>
          <p:cNvSpPr txBox="1"/>
          <p:nvPr/>
        </p:nvSpPr>
        <p:spPr>
          <a:xfrm>
            <a:off x="5120640" y="3502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 in depth</a:t>
            </a:r>
            <a:endParaRPr lang="en-US" sz="1800" dirty="0"/>
          </a:p>
        </p:txBody>
      </p:sp>
      <p:sp>
        <p:nvSpPr>
          <p:cNvPr id="20" name="Step 3 description"/>
          <p:cNvSpPr txBox="1"/>
          <p:nvPr/>
        </p:nvSpPr>
        <p:spPr>
          <a:xfrm>
            <a:off x="5120640" y="38587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Even if the hidden data is found, it stays protected.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Demo: Hide Text in an Image</a:t>
            </a:r>
            <a:endParaRPr lang="en-US" sz="3400" dirty="0"/>
          </a:p>
        </p:txBody>
      </p:sp>
      <p:sp>
        <p:nvSpPr>
          <p:cNvPr id="3" name="Demo step 1 circle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Demo step 1 number"/>
          <p:cNvSpPr txBox="1"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Demo step 1 text"/>
          <p:cNvSpPr txBox="1"/>
          <p:nvPr/>
        </p:nvSpPr>
        <p:spPr>
          <a:xfrm>
            <a:off x="1143000" y="12801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Choose a cover image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PNG or BMP works best (lossless).</a:t>
            </a:r>
            <a:endParaRPr lang="en-US" sz="1400" dirty="0"/>
          </a:p>
        </p:txBody>
      </p:sp>
      <p:sp>
        <p:nvSpPr>
          <p:cNvPr id="6" name="Demo step 2 circle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Demo step 2 number"/>
          <p:cNvSpPr txBox="1"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Demo step 2 text"/>
          <p:cNvSpPr txBox="1"/>
          <p:nvPr/>
        </p:nvSpPr>
        <p:spPr>
          <a:xfrm>
            <a:off x="1143000" y="2103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Write a secret message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Short text, optionally password-protected.</a:t>
            </a:r>
            <a:endParaRPr lang="en-US" sz="1400" dirty="0"/>
          </a:p>
        </p:txBody>
      </p:sp>
      <p:sp>
        <p:nvSpPr>
          <p:cNvPr id="9" name="Demo step 3 circle"/>
          <p:cNvSpPr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Demo step 3 number"/>
          <p:cNvSpPr txBox="1"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Demo step 3 text"/>
          <p:cNvSpPr txBox="1"/>
          <p:nvPr/>
        </p:nvSpPr>
        <p:spPr>
          <a:xfrm>
            <a:off x="1143000" y="2926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Embed 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OpenStego, Steghide, or Python with Pillow.</a:t>
            </a:r>
            <a:endParaRPr lang="en-US" sz="1400" dirty="0"/>
          </a:p>
        </p:txBody>
      </p:sp>
      <p:sp>
        <p:nvSpPr>
          <p:cNvPr id="12" name="Demo step 4 circle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Demo step 4 number"/>
          <p:cNvSpPr txBox="1"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Demo step 4 text"/>
          <p:cNvSpPr txBox="1"/>
          <p:nvPr/>
        </p:nvSpPr>
        <p:spPr>
          <a:xfrm>
            <a:off x="1143000" y="3749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Compare and extract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images look identical; recover the text.</a:t>
            </a:r>
            <a:endParaRPr lang="en-US" sz="1400" dirty="0"/>
          </a:p>
        </p:txBody>
      </p:sp>
      <p:sp>
        <p:nvSpPr>
          <p:cNvPr id="15" name="Original card"/>
          <p:cNvSpPr/>
          <p:nvPr/>
        </p:nvSpPr>
        <p:spPr>
          <a:xfrm>
            <a:off x="5303520" y="1280160"/>
            <a:ext cx="1463040" cy="173736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pic>
        <p:nvPicPr>
          <p:cNvPr id="16" name="Original icon" descr="Origi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463040"/>
            <a:ext cx="640080" cy="640080"/>
          </a:xfrm>
          <a:prstGeom prst="rect">
            <a:avLst/>
          </a:prstGeom>
        </p:spPr>
      </p:pic>
      <p:sp>
        <p:nvSpPr>
          <p:cNvPr id="17" name="Original label"/>
          <p:cNvSpPr txBox="1"/>
          <p:nvPr/>
        </p:nvSpPr>
        <p:spPr>
          <a:xfrm>
            <a:off x="5303520" y="2240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Original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no secret</a:t>
            </a:r>
            <a:endParaRPr lang="en-US" sz="1400" dirty="0"/>
          </a:p>
        </p:txBody>
      </p:sp>
      <p:sp>
        <p:nvSpPr>
          <p:cNvPr id="18" name="Stego image card"/>
          <p:cNvSpPr/>
          <p:nvPr/>
        </p:nvSpPr>
        <p:spPr>
          <a:xfrm>
            <a:off x="7223760" y="1280160"/>
            <a:ext cx="1463040" cy="173736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/>
        </p:spPr>
      </p:sp>
      <p:pic>
        <p:nvPicPr>
          <p:cNvPr id="19" name="Stego image icon" descr="Stego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463040"/>
            <a:ext cx="640080" cy="640080"/>
          </a:xfrm>
          <a:prstGeom prst="rect">
            <a:avLst/>
          </a:prstGeom>
        </p:spPr>
      </p:pic>
      <p:sp>
        <p:nvSpPr>
          <p:cNvPr id="20" name="Stego image label"/>
          <p:cNvSpPr txBox="1"/>
          <p:nvPr/>
        </p:nvSpPr>
        <p:spPr>
          <a:xfrm>
            <a:off x="7223760" y="2240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Stego image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carries secret</a:t>
            </a:r>
            <a:endParaRPr lang="en-US" sz="1400" dirty="0"/>
          </a:p>
        </p:txBody>
      </p:sp>
      <p:sp>
        <p:nvSpPr>
          <p:cNvPr id="21" name="Equals sign"/>
          <p:cNvSpPr txBox="1"/>
          <p:nvPr/>
        </p:nvSpPr>
        <p:spPr>
          <a:xfrm>
            <a:off x="6766560" y="1737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</a:rPr>
              <a:t>≈</a:t>
            </a:r>
            <a:endParaRPr lang="en-US" sz="3200" dirty="0"/>
          </a:p>
        </p:txBody>
      </p:sp>
      <p:sp>
        <p:nvSpPr>
          <p:cNvPr id="22" name="Demo caption"/>
          <p:cNvSpPr txBox="1"/>
          <p:nvPr/>
        </p:nvSpPr>
        <p:spPr>
          <a:xfrm>
            <a:off x="5303520" y="32918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Same pixels to the eye, different bits underneath.</a:t>
            </a:r>
            <a:endParaRPr lang="en-US" sz="14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Tip: save as PNG. JPEG compression destroys LSB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Key Takeaways</a:t>
            </a:r>
            <a:endParaRPr lang="en-US" sz="3400" dirty="0"/>
          </a:p>
        </p:txBody>
      </p:sp>
      <p:sp>
        <p:nvSpPr>
          <p:cNvPr id="3" name="Takeaway 1 circle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Takeaway 1 icon" descr="Takeaway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440180"/>
            <a:ext cx="320040" cy="320040"/>
          </a:xfrm>
          <a:prstGeom prst="rect">
            <a:avLst/>
          </a:prstGeom>
        </p:spPr>
      </p:pic>
      <p:sp>
        <p:nvSpPr>
          <p:cNvPr id="5" name="Takeaway 1 text"/>
          <p:cNvSpPr txBox="1"/>
          <p:nvPr/>
        </p:nvSpPr>
        <p:spPr>
          <a:xfrm>
            <a:off x="1371600" y="1280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Cryptography hides the meaning of a message.</a:t>
            </a:r>
            <a:endParaRPr lang="en-US" sz="2200" dirty="0"/>
          </a:p>
        </p:txBody>
      </p:sp>
      <p:sp>
        <p:nvSpPr>
          <p:cNvPr id="6" name="Takeaway 2 circle"/>
          <p:cNvSpPr/>
          <p:nvPr/>
        </p:nvSpPr>
        <p:spPr>
          <a:xfrm>
            <a:off x="457200" y="21488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Takeaway 2 icon" descr="Takeaway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2308860"/>
            <a:ext cx="320040" cy="320040"/>
          </a:xfrm>
          <a:prstGeom prst="rect">
            <a:avLst/>
          </a:prstGeom>
        </p:spPr>
      </p:pic>
      <p:sp>
        <p:nvSpPr>
          <p:cNvPr id="8" name="Takeaway 2 text"/>
          <p:cNvSpPr txBox="1"/>
          <p:nvPr/>
        </p:nvSpPr>
        <p:spPr>
          <a:xfrm>
            <a:off x="1371600" y="2148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Steganography hides that a message exists.</a:t>
            </a:r>
            <a:endParaRPr lang="en-US" sz="2200" dirty="0"/>
          </a:p>
        </p:txBody>
      </p:sp>
      <p:sp>
        <p:nvSpPr>
          <p:cNvPr id="9" name="Takeaway 3 circle"/>
          <p:cNvSpPr/>
          <p:nvPr/>
        </p:nvSpPr>
        <p:spPr>
          <a:xfrm>
            <a:off x="457200" y="3017520"/>
            <a:ext cx="640080" cy="6400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0" name="Takeaway 3 icon" descr="Takeaway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" y="3177540"/>
            <a:ext cx="320040" cy="320040"/>
          </a:xfrm>
          <a:prstGeom prst="rect">
            <a:avLst/>
          </a:prstGeom>
        </p:spPr>
      </p:pic>
      <p:sp>
        <p:nvSpPr>
          <p:cNvPr id="11" name="Takeaway 3 text"/>
          <p:cNvSpPr txBox="1"/>
          <p:nvPr/>
        </p:nvSpPr>
        <p:spPr>
          <a:xfrm>
            <a:off x="1371600" y="3017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Together they give layered security.</a:t>
            </a:r>
            <a:endParaRPr lang="en-US" sz="2200" dirty="0"/>
          </a:p>
        </p:txBody>
      </p:sp>
      <p:sp>
        <p:nvSpPr>
          <p:cNvPr id="12" name="Closing line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|  Questions?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ealth">
  <a:themeElements>
    <a:clrScheme name="Stealth">
      <a:dk1>
        <a:srgbClr val="0B1F33"/>
      </a:dk1>
      <a:lt1>
        <a:srgbClr val="FFFFFF"/>
      </a:lt1>
      <a:dk2>
        <a:srgbClr val="1B3A57"/>
      </a:dk2>
      <a:lt2>
        <a:srgbClr val="EEF3F8"/>
      </a:lt2>
      <a:accent1>
        <a:srgbClr val="14B8A6"/>
      </a:accent1>
      <a:accent2>
        <a:srgbClr val="F59E0B"/>
      </a:accent2>
      <a:accent3>
        <a:srgbClr val="6366F1"/>
      </a:accent3>
      <a:accent4>
        <a:srgbClr val="EF4444"/>
      </a:accent4>
      <a:accent5>
        <a:srgbClr val="22C55E"/>
      </a:accent5>
      <a:accent6>
        <a:srgbClr val="64748B"/>
      </a:accent6>
      <a:hlink>
        <a:srgbClr val="14B8A6"/>
      </a:hlink>
      <a:folHlink>
        <a:srgbClr val="64748B"/>
      </a:folHlink>
    </a:clrScheme>
    <a:fontScheme name="Stealt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</Words>
  <Application>Microsoft Office PowerPoint</Application>
  <PresentationFormat>On-screen Show (16:9)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Stealth</vt:lpstr>
      <vt:lpstr>Steganography vs Cryptography</vt:lpstr>
      <vt:lpstr>The Core Idea</vt:lpstr>
      <vt:lpstr>How Cryptography Works</vt:lpstr>
      <vt:lpstr>How Steganography Works</vt:lpstr>
      <vt:lpstr>LSB Technique in Action</vt:lpstr>
      <vt:lpstr>Where Data Can Hide</vt:lpstr>
      <vt:lpstr>Head-to-Head Comparison</vt:lpstr>
      <vt:lpstr>Strengths and Limits</vt:lpstr>
      <vt:lpstr>Where They’re Used</vt:lpstr>
      <vt:lpstr>Better Together</vt:lpstr>
      <vt:lpstr>Demo: Hide Text in an Image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Steganography vs Cryptography: Hidden Security in the Digital World</dc:title>
  <dc:subject>PptxGenJS Presentation</dc:subject>
  <dc:creator>PptxGenJS</dc:creator>
  <cp:lastModifiedBy>Narmatha Jothiraj</cp:lastModifiedBy>
  <cp:revision>1</cp:revision>
  <dcterms:created xsi:type="dcterms:W3CDTF">2026-10-12T15:01:23Z</dcterms:created>
  <dcterms:modified xsi:type="dcterms:W3CDTF">2026-10-12T15:05:34Z</dcterms:modified>
</cp:coreProperties>
</file>